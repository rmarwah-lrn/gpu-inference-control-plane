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9aa034be8d419c" /><Relationship Type="http://schemas.openxmlformats.org/officeDocument/2006/relationships/extended-properties" Target="/docProps/app.xml" Id="R8816161e3b924f73" /><Relationship Type="http://schemas.openxmlformats.org/officeDocument/2006/relationships/officeDocument" Target="/ppt/presentation.xml" Id="Rc5395e4124464d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267962603244f8"/>
  </p:sldMasterIdLst>
  <p:notesMasterIdLst>
    <p:notesMasterId xmlns:r="http://schemas.openxmlformats.org/officeDocument/2006/relationships" r:id="R8d4059d918394ffb"/>
  </p:notesMasterIdLst>
  <p:sldIdLst>
    <p:sldId xmlns:r="http://schemas.openxmlformats.org/officeDocument/2006/relationships" id="256" r:id="Rd3e4af4107a64467"/>
    <p:sldId xmlns:r="http://schemas.openxmlformats.org/officeDocument/2006/relationships" id="257" r:id="R11a174897c22405a"/>
    <p:sldId xmlns:r="http://schemas.openxmlformats.org/officeDocument/2006/relationships" id="258" r:id="R7d663b94b67e4d29"/>
    <p:sldId xmlns:r="http://schemas.openxmlformats.org/officeDocument/2006/relationships" id="259" r:id="R7b5f1b2c5f0e4edf"/>
    <p:sldId xmlns:r="http://schemas.openxmlformats.org/officeDocument/2006/relationships" id="260" r:id="R340fd2ff1f6344e7"/>
    <p:sldId xmlns:r="http://schemas.openxmlformats.org/officeDocument/2006/relationships" id="261" r:id="Ref853b71bfc5428b"/>
    <p:sldId xmlns:r="http://schemas.openxmlformats.org/officeDocument/2006/relationships" id="262" r:id="R383bbbbe71624cd7"/>
    <p:sldId xmlns:r="http://schemas.openxmlformats.org/officeDocument/2006/relationships" id="263" r:id="Rb7c23381d1474d1f"/>
    <p:sldId xmlns:r="http://schemas.openxmlformats.org/officeDocument/2006/relationships" id="264" r:id="R5c8067ca057d49f3"/>
    <p:sldId xmlns:r="http://schemas.openxmlformats.org/officeDocument/2006/relationships" id="265" r:id="R240ecd77a6c34c8e"/>
    <p:sldId xmlns:r="http://schemas.openxmlformats.org/officeDocument/2006/relationships" id="266" r:id="R0eacb20b68c0438c"/>
    <p:sldId xmlns:r="http://schemas.openxmlformats.org/officeDocument/2006/relationships" id="267" r:id="R68a3765dcc484911"/>
    <p:sldId xmlns:r="http://schemas.openxmlformats.org/officeDocument/2006/relationships" id="268" r:id="Re743d3e4e693422a"/>
    <p:sldId xmlns:r="http://schemas.openxmlformats.org/officeDocument/2006/relationships" id="269" r:id="Rb0e3bd4233c84537"/>
    <p:sldId xmlns:r="http://schemas.openxmlformats.org/officeDocument/2006/relationships" id="270" r:id="R1b10c801f8774d8a"/>
    <p:sldId xmlns:r="http://schemas.openxmlformats.org/officeDocument/2006/relationships" id="271" r:id="R5150431be52f47a3"/>
    <p:sldId xmlns:r="http://schemas.openxmlformats.org/officeDocument/2006/relationships" id="272" r:id="R605c3c60821b4a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67962603244f8" /><Relationship Type="http://schemas.openxmlformats.org/officeDocument/2006/relationships/theme" Target="/ppt/theme/theme1.xml" Id="Rec6b8d808c96475e" /><Relationship Type="http://schemas.openxmlformats.org/officeDocument/2006/relationships/notesMaster" Target="/ppt/notesMasters/notesMaster1.xml" Id="R8d4059d918394ffb" /><Relationship Type="http://schemas.openxmlformats.org/officeDocument/2006/relationships/presProps" Target="/ppt/presProps.xml" Id="R409a058fa5bf457d" /><Relationship Type="http://schemas.openxmlformats.org/officeDocument/2006/relationships/viewProps" Target="/ppt/viewProps.xml" Id="R4d552bbb0a0e4e63" /><Relationship Type="http://schemas.openxmlformats.org/officeDocument/2006/relationships/tableStyles" Target="/ppt/tableStyles.xml" Id="Rb7395b875c41446f" /><Relationship Type="http://schemas.openxmlformats.org/officeDocument/2006/relationships/slide" Target="/ppt/slides/slide1.xml" Id="Rd3e4af4107a64467" /><Relationship Type="http://schemas.openxmlformats.org/officeDocument/2006/relationships/slide" Target="/ppt/slides/slide2.xml" Id="R11a174897c22405a" /><Relationship Type="http://schemas.openxmlformats.org/officeDocument/2006/relationships/slide" Target="/ppt/slides/slide3.xml" Id="R7d663b94b67e4d29" /><Relationship Type="http://schemas.openxmlformats.org/officeDocument/2006/relationships/slide" Target="/ppt/slides/slide4.xml" Id="R7b5f1b2c5f0e4edf" /><Relationship Type="http://schemas.openxmlformats.org/officeDocument/2006/relationships/slide" Target="/ppt/slides/slide5.xml" Id="R340fd2ff1f6344e7" /><Relationship Type="http://schemas.openxmlformats.org/officeDocument/2006/relationships/slide" Target="/ppt/slides/slide6.xml" Id="Ref853b71bfc5428b" /><Relationship Type="http://schemas.openxmlformats.org/officeDocument/2006/relationships/slide" Target="/ppt/slides/slide7.xml" Id="R383bbbbe71624cd7" /><Relationship Type="http://schemas.openxmlformats.org/officeDocument/2006/relationships/slide" Target="/ppt/slides/slide8.xml" Id="Rb7c23381d1474d1f" /><Relationship Type="http://schemas.openxmlformats.org/officeDocument/2006/relationships/slide" Target="/ppt/slides/slide9.xml" Id="R5c8067ca057d49f3" /><Relationship Type="http://schemas.openxmlformats.org/officeDocument/2006/relationships/slide" Target="/ppt/slides/slide10.xml" Id="R240ecd77a6c34c8e" /><Relationship Type="http://schemas.openxmlformats.org/officeDocument/2006/relationships/slide" Target="/ppt/slides/slide11.xml" Id="R0eacb20b68c0438c" /><Relationship Type="http://schemas.openxmlformats.org/officeDocument/2006/relationships/slide" Target="/ppt/slides/slide12.xml" Id="R68a3765dcc484911" /><Relationship Type="http://schemas.openxmlformats.org/officeDocument/2006/relationships/slide" Target="/ppt/slides/slide13.xml" Id="Re743d3e4e693422a" /><Relationship Type="http://schemas.openxmlformats.org/officeDocument/2006/relationships/slide" Target="/ppt/slides/slide14.xml" Id="Rb0e3bd4233c84537" /><Relationship Type="http://schemas.openxmlformats.org/officeDocument/2006/relationships/slide" Target="/ppt/slides/slide15.xml" Id="R1b10c801f8774d8a" /><Relationship Type="http://schemas.openxmlformats.org/officeDocument/2006/relationships/slide" Target="/ppt/slides/slide16.xml" Id="R5150431be52f47a3" /><Relationship Type="http://schemas.openxmlformats.org/officeDocument/2006/relationships/slide" Target="/ppt/slides/slide17.xml" Id="R605c3c60821b4a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6c8def4d40647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6cf3140252442f" /><Relationship Type="http://schemas.openxmlformats.org/officeDocument/2006/relationships/notesMaster" Target="/ppt/notesMasters/notesMaster1.xml" Id="R86f08fa06a5b4f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da615b69b0499a" /><Relationship Type="http://schemas.openxmlformats.org/officeDocument/2006/relationships/notesMaster" Target="/ppt/notesMasters/notesMaster1.xml" Id="R2b2fe2291a624f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21958fc02549e4" /><Relationship Type="http://schemas.openxmlformats.org/officeDocument/2006/relationships/notesMaster" Target="/ppt/notesMasters/notesMaster1.xml" Id="Rb6f72590530549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dad9141f1a4d96" /><Relationship Type="http://schemas.openxmlformats.org/officeDocument/2006/relationships/notesMaster" Target="/ppt/notesMasters/notesMaster1.xml" Id="Rf31fc891f64f48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7fa83f547f4bbb" /><Relationship Type="http://schemas.openxmlformats.org/officeDocument/2006/relationships/notesMaster" Target="/ppt/notesMasters/notesMaster1.xml" Id="Rce8ca9052cec4b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7a26e811be4b2e" /><Relationship Type="http://schemas.openxmlformats.org/officeDocument/2006/relationships/notesMaster" Target="/ppt/notesMasters/notesMaster1.xml" Id="R74cea6b09ea34a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d55af8248f46a6" /><Relationship Type="http://schemas.openxmlformats.org/officeDocument/2006/relationships/notesMaster" Target="/ppt/notesMasters/notesMaster1.xml" Id="R700e91e98c2b46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44c1eef6824b3e" /><Relationship Type="http://schemas.openxmlformats.org/officeDocument/2006/relationships/notesMaster" Target="/ppt/notesMasters/notesMaster1.xml" Id="R28bfd98392a141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bed98afb484b07" /><Relationship Type="http://schemas.openxmlformats.org/officeDocument/2006/relationships/notesMaster" Target="/ppt/notesMasters/notesMaster1.xml" Id="Rda7cdecb068446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53b15427a6410f" /><Relationship Type="http://schemas.openxmlformats.org/officeDocument/2006/relationships/notesMaster" Target="/ppt/notesMasters/notesMaster1.xml" Id="R7b26058d98d344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430ea7fa014167" /><Relationship Type="http://schemas.openxmlformats.org/officeDocument/2006/relationships/notesMaster" Target="/ppt/notesMasters/notesMaster1.xml" Id="Rd7e06f19303248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ae666e7d14403c" /><Relationship Type="http://schemas.openxmlformats.org/officeDocument/2006/relationships/notesMaster" Target="/ppt/notesMasters/notesMaster1.xml" Id="Rbbee25d6a6124a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346a40c4f74e0c" /><Relationship Type="http://schemas.openxmlformats.org/officeDocument/2006/relationships/notesMaster" Target="/ppt/notesMasters/notesMaster1.xml" Id="Reb6bdbe2e5de48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2e743f73eb47ef" /><Relationship Type="http://schemas.openxmlformats.org/officeDocument/2006/relationships/notesMaster" Target="/ppt/notesMasters/notesMaster1.xml" Id="R0ed98b376fe94c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9f9517e1234949" /><Relationship Type="http://schemas.openxmlformats.org/officeDocument/2006/relationships/notesMaster" Target="/ppt/notesMasters/notesMaster1.xml" Id="R77d01e53c53346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d207336a2d4d4a" /><Relationship Type="http://schemas.openxmlformats.org/officeDocument/2006/relationships/notesMaster" Target="/ppt/notesMasters/notesMaster1.xml" Id="R8b5307f2cb3642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a15ebc084b4f5c" /><Relationship Type="http://schemas.openxmlformats.org/officeDocument/2006/relationships/notesMaster" Target="/ppt/notesMasters/notesMaster1.xml" Id="R85850b3666cc4c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79b481419484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b9f7c230d124902" /><Relationship Type="http://schemas.openxmlformats.org/officeDocument/2006/relationships/slideLayout" Target="/ppt/slideLayouts/slideLayout2.xml" Id="R7054e327f7a34d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54e327f7a34d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e74a26c3f46f1" /><Relationship Type="http://schemas.openxmlformats.org/officeDocument/2006/relationships/notesSlide" Target="/ppt/notesSlides/notesSlide1.xml" Id="R003df790407147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f861731b2441d3" /><Relationship Type="http://schemas.openxmlformats.org/officeDocument/2006/relationships/notesSlide" Target="/ppt/notesSlides/notesSlide2.xml" Id="R399074b1cf644a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7b8cbbe59b4881" /><Relationship Type="http://schemas.openxmlformats.org/officeDocument/2006/relationships/notesSlide" Target="/ppt/notesSlides/notesSlide3.xml" Id="Rba9d3934746f46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6d1eb2e81042f8" /><Relationship Type="http://schemas.openxmlformats.org/officeDocument/2006/relationships/notesSlide" Target="/ppt/notesSlides/notesSlide4.xml" Id="R8ae44046eea140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e4ea6e6a444b5b" /><Relationship Type="http://schemas.openxmlformats.org/officeDocument/2006/relationships/notesSlide" Target="/ppt/notesSlides/notesSlide5.xml" Id="Rf6f5880a9bdc49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7914e32e69464c" /><Relationship Type="http://schemas.openxmlformats.org/officeDocument/2006/relationships/notesSlide" Target="/ppt/notesSlides/notesSlide6.xml" Id="R8aad7d0f8c654e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b3ba5cebca47fd" /><Relationship Type="http://schemas.openxmlformats.org/officeDocument/2006/relationships/notesSlide" Target="/ppt/notesSlides/notesSlide7.xml" Id="R1332b81d47024b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3b536ffb614ba9" /><Relationship Type="http://schemas.openxmlformats.org/officeDocument/2006/relationships/notesSlide" Target="/ppt/notesSlides/notesSlide8.xml" Id="Ra415f45d27864a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e16c1f29e247de" /><Relationship Type="http://schemas.openxmlformats.org/officeDocument/2006/relationships/image" Target="/ppt/media/image.png" Id="R760fdb25c663428c" /><Relationship Type="http://schemas.openxmlformats.org/officeDocument/2006/relationships/notesSlide" Target="/ppt/notesSlides/notesSlide9.xml" Id="R26561449793347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7ad0080d01460e" /><Relationship Type="http://schemas.openxmlformats.org/officeDocument/2006/relationships/image" Target="/ppt/media/image2.png" Id="R41bc27b056e94575" /><Relationship Type="http://schemas.openxmlformats.org/officeDocument/2006/relationships/notesSlide" Target="/ppt/notesSlides/notesSlide10.xml" Id="Rf2cdd5dacc2b4d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f4280475a14218" /><Relationship Type="http://schemas.openxmlformats.org/officeDocument/2006/relationships/notesSlide" Target="/ppt/notesSlides/notesSlide11.xml" Id="R8463909be0944d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572e6ea12241e4" /><Relationship Type="http://schemas.openxmlformats.org/officeDocument/2006/relationships/notesSlide" Target="/ppt/notesSlides/notesSlide12.xml" Id="Ra35ae0e8277849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feb8a073ce4083" /><Relationship Type="http://schemas.openxmlformats.org/officeDocument/2006/relationships/notesSlide" Target="/ppt/notesSlides/notesSlide13.xml" Id="R3ffaed0250ea47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7ee73d3cb24748" /><Relationship Type="http://schemas.openxmlformats.org/officeDocument/2006/relationships/image" Target="/ppt/media/image3.png" Id="Rcae9e4bc63624bc7" /><Relationship Type="http://schemas.openxmlformats.org/officeDocument/2006/relationships/notesSlide" Target="/ppt/notesSlides/notesSlide14.xml" Id="R0fa181c7d29c42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7fb11ad6094e88" /><Relationship Type="http://schemas.openxmlformats.org/officeDocument/2006/relationships/notesSlide" Target="/ppt/notesSlides/notesSlide15.xml" Id="Refa8b95aa5e74d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4784e74e2d4125" /><Relationship Type="http://schemas.openxmlformats.org/officeDocument/2006/relationships/notesSlide" Target="/ppt/notesSlides/notesSlide16.xml" Id="R7e5334afb57748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94ae9ecabb49cc" /><Relationship Type="http://schemas.openxmlformats.org/officeDocument/2006/relationships/notesSlide" Target="/ppt/notesSlides/notesSlide17.xml" Id="Rbe1c34ee08a446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8BD1B-4669-4991-89E0-3AF71B0C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9D9B1-2C5D-493C-A50B-3D5C478D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CONTROL PLANE MET</a:t>
            </a:r>
          </a:p>
          <a:p xmlns:a="http://schemas.openxmlformats.org/drawingml/2006/main">
            <a:pPr algn="l">
              <a:defRPr sz="34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FAILURE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74DB0-E059-432F-86CF-AA65FB8D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Serving a tool-using agent on one scarce A100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B9BF3-7D66-434A-886C-F1226719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EC637-0744-4061-82D5-120C039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90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measured deployment story: capacity math, admission, placement, KV handoff, and the failure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0A499-9096-4AA6-B02C-724A9029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57250"/>
            <a:ext cx="3143250" cy="4476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63448"/>
          </a:solidFill>
          <a:ln xmlns:a="http://schemas.openxmlformats.org/drawingml/2006/main" w="9525">
            <a:solidFill>
              <a:srgbClr val="58D6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B193C-06D1-41A9-9020-00907056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430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LIVE RUN · DECODE WORKER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D2BAF-82BD-4C94-91E8-BDB26DF5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6ACB1-F9EB-4B17-87DE-1308A45E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97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40 GB SXM4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B5895-1342-459D-8572-D21A0962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E49A0-75B4-4040-8C7A-E29DA83A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BF16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CE538-E401-4ED0-8D6E-FFC20FAB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8D6E8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58D6E8"/>
                </a:solidFill>
                <a:latin typeface="Aptos Mono"/>
                <a:ea typeface="Aptos Mono"/>
                <a:cs typeface="Aptos Mono"/>
              </a:rPr>
              <a:t>20.02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481D5-934A-4CCD-A1A5-BDA1F2A0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decode KV ceiling</a:t>
            </a:r>
          </a:p>
          <a:p xmlns:a="http://schemas.openxmlformats.org/drawingml/2006/main">
            <a:pPr algn="l">
              <a:def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@ 2,048 tok/request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7844D-FCCD-4B86-A3FA-134A43F2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41,008 KV-cache tokens ÷ 2,048</a:t>
            </a:r>
          </a:p>
          <a:p xmlns:a="http://schemas.openxmlformats.org/drawingml/2006/main">
            <a:pPr algn="l">
              <a:def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≈ 20 full-length decode sequences.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A38A0-6F4F-4EDC-AF05-09C3F4E9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CA5EA-ACC8-464C-A179-A660B76F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86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B860"/>
                </a:solidFill>
                <a:latin typeface="Avenir Next"/>
                <a:ea typeface="Avenir Next"/>
                <a:cs typeface="Avenir Next"/>
              </a:rPr>
              <a:t>Transfer failure surfaced</a:t>
            </a:r>
          </a:p>
          <a:p xmlns:a="http://schemas.openxmlformats.org/drawingml/2006/main">
            <a:pPr algn="l">
              <a:defRPr sz="1275" b="1">
                <a:solidFill>
                  <a:srgbClr val="F4B86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B860"/>
                </a:solidFill>
                <a:latin typeface="Avenir Next"/>
                <a:ea typeface="Avenir Next"/>
                <a:cs typeface="Avenir Next"/>
              </a:rPr>
              <a:t>before HBM exhaustion.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02E7F-2A0D-4CD2-945A-E8FEFE63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6B587-AA51-4E56-92B3-3075098D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Measured on Lambda A100; per-worker vLLM KV estimate, not throughput.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E3C91-4F19-4900-8980-0241B374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0041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33C90-1462-4B70-9686-12C284A1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65DC95AA-4616-4A93-8761-A04EE92D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1F299E03-61F4-444E-9CDA-CC3181D0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APPLICATION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89B61-08BE-4DA2-8944-9596E286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 agent turn is a chain of prefill and decode phases.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C8545-4015-4164-9F7A-25ED9307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The conversation grows after every tool result; the system/tool schema is the shared prefix, the conversation is unique.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9BB57-35D3-45FC-B69B-21058DC6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58D1E-7F88-4E7F-9F70-A012B047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USER 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DC413-29C5-4F56-B6EE-1C95E10B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system + 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085EA-D984-4820-AD52-4BCA90A1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861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C6CAA-431B-4DC5-B28E-6E0A044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33725"/>
            <a:ext cx="238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9F3CD-C550-4912-B025-DB0A9BBC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98DC3-6ABA-4886-9753-52C8F425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289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THINK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60404-1B25-4706-899D-A030D63F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242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unique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B3403-3ADA-4E68-9F3F-1660C394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D8D72-7440-4643-8CE8-17086927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238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26F3C-EE49-4114-8091-2B59151C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5DBD5-F85A-4361-A136-2A7D219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DD8E2-2499-4DAF-837A-54449687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242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fake tool 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6D635-F5B7-4E31-A94C-E1BB5B27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59FD3-4C04-4DE6-8F93-B8D1050C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33725"/>
            <a:ext cx="238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7AB3F-4FCC-4F26-8010-5E7E07B3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B70DE-1FE1-4DD8-A0D5-AC1D07C5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289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39006-6F28-41E4-B18E-B7FA73BA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242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tool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6E764-EC2B-4CF6-9EDF-A6219993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D590CF-F5B4-4A32-88F5-23DB81D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33725"/>
            <a:ext cx="238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FB284-6CA6-4B78-9C4C-23CB1F5E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92D5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2B136-F3BF-4A44-A640-DA501CE4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ANSWER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D85F7-CF5B-4B0D-8C3B-F6B3DA4A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final decode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E8C34F-69CF-4BB3-93FD-71A15441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01B29B-C647-4AAF-B696-36B91CA0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SHARED PREFIX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92F03E-C444-4A7A-8F53-0912E3E2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system prompt + tool schema → prefix cache candidate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035167-104A-404E-868F-F8EC1D58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381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332B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967DF3-DE4A-4C51-A5A8-079B393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148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B8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B860"/>
                </a:solidFill>
                <a:latin typeface="Avenir Next"/>
                <a:ea typeface="Avenir Next"/>
                <a:cs typeface="Avenir Next"/>
              </a:rPr>
              <a:t>UNIQUE CONTEXT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2DEB02-243D-481C-AC7B-AB7CF904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339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user + thought + tool observations → KV grows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5B7E19-2D4A-4880-9778-735B1BBA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941DBC-AE9D-4201-B7F1-1E883239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Application: app/crew_flood.py; prompt shape matches the live load generator.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3311DB-B656-423F-AEAF-396EB25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7198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B90980-349D-4975-A706-CF40B6ED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4807EF9F-28A8-429F-9D43-F71CF2A5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DBF65E0B-DADE-41A7-9B02-1DD309EB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CAPACITY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24882-5C0F-4AE1-9AD7-F734047E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paper limit was KV, but the live engine exposed a smaller usable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8D443-739A-4AB6-ADA0-B7F5BA7B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Qwen 2.5 3B BF16 on the observed A100 configuration.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F0BC9-C122-4BA3-BA9E-D0A186A4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67A78-1F4B-460F-B7FD-22626843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KV BYTES /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A3E5F-6E04-4B80-A11F-1A5F6028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36 × 2 × 128 × 2 ×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E3637-2B33-4490-8EFA-7E3C7497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layers × KV heads × head dim × K/V × BF16 bytes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B499D-019E-4242-87AA-DF68AB7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D80E0-E618-453D-96CF-D4DD843F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56A20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B56A20"/>
                </a:solidFill>
                <a:latin typeface="Avenir Next"/>
                <a:ea typeface="Avenir Next"/>
                <a:cs typeface="Avenir Next"/>
              </a:rPr>
              <a:t>36,864 bytes = 36 KiB /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35008-5563-4078-9DB5-C31BB834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5048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57F1C-8EF5-40AE-8DEE-9A87C908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FROM 40 GB PHYSICAL TO KV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3CFBA-707A-441E-8ABD-47CC14D9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40 GB physical A100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C7DF1-34BE-42E9-A86A-3014217A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2E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7E2EA"/>
                </a:solidFill>
                <a:latin typeface="Avenir Next"/>
                <a:ea typeface="Avenir Next"/>
                <a:cs typeface="Avenir Next"/>
              </a:rPr>
              <a:t>→ HAMi visible slices: 22,528 / 27,648 MiB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18614-516F-40D6-A172-0107E14E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2E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7E2EA"/>
                </a:solidFill>
                <a:latin typeface="Avenir Next"/>
                <a:ea typeface="Avenir Next"/>
                <a:cs typeface="Avenir Next"/>
              </a:rPr>
              <a:t>→ vLLM gpu-memory-utilization=0.50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37937-388E-4DC9-A4F9-31A466D3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2E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7E2EA"/>
                </a:solidFill>
                <a:latin typeface="Avenir Next"/>
                <a:ea typeface="Avenir Next"/>
                <a:cs typeface="Avenir Next"/>
              </a:rPr>
              <a:t>   ≈ 11.0 / 13.5 GiB allocation targets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18C2C-AD3E-419C-9145-A5A7E221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14775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− BF16 weights + activations + CUDA graph/runtime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9A32D-8933-4B71-8684-109A0EA9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6242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86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B860"/>
                </a:solidFill>
                <a:latin typeface="Avenir Next"/>
                <a:ea typeface="Avenir Next"/>
                <a:cs typeface="Avenir Next"/>
              </a:rPr>
              <a:t>→ measured KV remainder: 1.43 GiB / 1.41 GiB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76E82-B23B-4CD7-B84B-5E57FF7B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007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→ 41,744 prefill / 41,008 decode KV tokens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C5C03-16B8-4582-BE9C-4F27B1B6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76775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The 40 GB figure is physical capacity—not per-engine KV.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92213-A09D-4671-B4D3-FCE279FC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Request caps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76F05-654E-4436-9E43-9732CE9F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76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Input: 8,000 chars / ≈2,048 prompt tokens · output: 512 new tokens · agent default: 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7D445-6967-4EF8-A519-07996F76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76875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Pressure client requested 1,024 output tokens; gateway clamped it to 512.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6849D-F207-4050-86AA-86A27011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Measured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913DE7-3AEF-4D23-9709-822594F5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3405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86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B860"/>
                </a:solidFill>
                <a:latin typeface="Avenir Next"/>
                <a:ea typeface="Avenir Next"/>
                <a:cs typeface="Avenir Next"/>
              </a:rPr>
              <a:t>At full context length, the decode worker—not the paper estimate—sets the practical KV ceiling.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18C790-05C3-45FD-8B2D-0B51DBBE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1BD765-71FF-4DF8-86BF-DCD67ED8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Source: final_run_decode.log + final_run_prefill.log + app/guardrails.py; capacity is per worker.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B91EE6-42E9-4D83-9D03-39046C01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23938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593F87-45F6-453C-AC73-5B7C600E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B81EFB71-9916-4D75-865B-5615DB82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372DEDD2-D49F-41A6-8467-7F184793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ENGINE KNOBS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07F20-97D8-49F7-869D-C9FAC5F9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asymmetry protects different parts of the agent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AD860-0BEF-4840-B5ED-7FAA7284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Prefill is input-heavy and bursty; decode is interactive and slot-sensitive.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45EB8-6397-4ACE-A362-D4879F62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57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D3CA4-8ABA-489F-8EFF-033E0B52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PREFILL · MOVE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6998E-4823-4E4B-89B5-8BC39C64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1619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AB800-A6B0-4C21-8B9D-C3305A84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max_num_seqs = 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52C8B-6BA0-418C-A369-8D33301F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95625"/>
            <a:ext cx="1905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43D60-69BD-4CD5-9799-C77A6B4D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52775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batch tokens = 1,024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63DCC-BF3D-4EE8-8621-BFCF43FD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More tokens per scheduling step</a:t>
            </a:r>
          </a:p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helps process long prompts and tool observations efficiently. Fewer active sequences limit memory contention while chunked prefill runs.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61A44-12B7-4C53-8F7A-25128DA4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5048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52CE9-C4F9-4627-A1D8-0FD8A8DF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DECODE · PROTECT INTERACTION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EDE01-37FB-4CB0-A5C8-44703C5D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95625"/>
            <a:ext cx="1619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92D5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D195B-95B2-41E4-B2D4-1515F122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527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max_num_seqs = 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D6699-4B6B-4317-902A-7DCEE69A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95625"/>
            <a:ext cx="1714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92D5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A0A4C-5685-471E-95C1-D3D7D0ED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527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batch tokens = 512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7DDAB-94E5-4C51-9646-27401569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More sequence slots give continuous batching room for agent turns. Smaller token batches reduce per-step monopolization and help protect ITL.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F0461-D653-4839-B1FE-4EF417B0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2679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9FC56-3CFA-4C4B-92B1-910833C9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B86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4B860"/>
                </a:solidFill>
                <a:latin typeface="Avenir Next"/>
                <a:ea typeface="Avenir Next"/>
                <a:cs typeface="Avenir Next"/>
              </a:rPr>
              <a:t>IMPORTANT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255E0-3685-4F18-9E89-4A38B92E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0545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These are scheduler ceilings—not a promise of 64 full-length requests. KV admission remains the safety boundary.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B9979-315A-43CF-AEC2-A851C5EF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B89EF-9CF4-4455-934E-79E6831B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Engine config: k8s-config/hami/hami-lambda.yaml; max_model_len=2,048 on both workers.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AF605-3A94-4D2F-9DAA-0B0D4F95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31000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DBBB45-AB5F-4596-847E-FEA0A127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F37C0F7C-A12C-4BB1-9B92-5280766F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5E234E03-E300-47FE-A1AB-3AFB8B9E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CLUSTER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348A1-DBD1-467A-89AF-6C448A57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Prefill and decode are disaggregated into two separate vLLM engines.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7588F-5E98-48F6-B8D4-B40B775B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One physical A100 is split by HAMi; Mooncake transfers the produced KV state from the prefill engine to the decode engine.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F0145-78B0-4570-8DA8-75282336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238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41221-29CF-4A9A-88E6-F05FA86E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CLIENT /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8780A-4BBF-445F-B24C-EDF60B48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857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guardrails</a:t>
            </a:r>
          </a:p>
          <a:p xmlns:a="http://schemas.openxmlformats.org/drawingml/2006/main">
            <a:pPr algn="l">
              <a:def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app/crew_flood.py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ADD75-C77D-4520-AF54-6FB8BE67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861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853A9-33F0-4658-B541-2FAEB306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2238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D7FA1-4241-4831-807C-493A359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813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3B876-8720-44B9-BE78-C7446CC5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43250"/>
            <a:ext cx="1857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admit · place · queue</a:t>
            </a:r>
          </a:p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429 / 503 / 529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A4A72-C822-4D42-B1DA-A8F6992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861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A980F-8BEA-474C-9184-65C88DBE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38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74A8B-3312-416E-989C-A2483C43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PREFILL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1051D-80EA-4B39-97F4-10844C7B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857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vLLM producer</a:t>
            </a:r>
          </a:p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22,528 MiB · 55% cores</a:t>
            </a:r>
          </a:p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chunked prefill + prefix cache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158C5-D6EA-45DB-8C9A-5C6A9EF5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861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KV 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E11D3-694E-43E7-BE00-4D5F3D2F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238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92D5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6D506-9BFA-4E7B-B8BB-1DAA4535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813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DECODE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85F44-7E7E-4511-BA37-0E9166D9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43250"/>
            <a:ext cx="1857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vLLM consumer</a:t>
            </a:r>
          </a:p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27,648 MiB · 55% cores</a:t>
            </a:r>
          </a:p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continuous batching + decode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55361-A1BB-4831-8653-E35AA605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08E54D-81DE-4889-9B82-20D82EE9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ENGINE OPTIMIZATION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A8862-0120-44F4-BA8D-A8395799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prefix caching · chunked prefill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continuous batching = vLLM default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priority scheduling · KV events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MooncakeConnector · max_model_len=2048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6AC01-D32A-4461-BE11-213639BA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19625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8C52DD-458B-4189-9159-ECE6AE8B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291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STAGE-SPECIFIC BUDGETS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01993C-A863-4F3B-9B39-09E221B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124450"/>
            <a:ext cx="419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HAMi gpucores=55 for both engines</a:t>
            </a:r>
          </a:p>
          <a:p xmlns:a="http://schemas.openxmlformats.org/drawingml/2006/main">
            <a:pPr algn="l">
              <a:defRPr sz="10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prefill: seqs 32 · batch 1024</a:t>
            </a:r>
          </a:p>
          <a:p xmlns:a="http://schemas.openxmlformats.org/drawingml/2006/main">
            <a:pPr algn="l">
              <a:defRPr sz="10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decode: seqs 64 · batch 512</a:t>
            </a:r>
          </a:p>
          <a:p xmlns:a="http://schemas.openxmlformats.org/drawingml/2006/main">
            <a:pPr algn="l">
              <a:defRPr sz="10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gpu-memory-utilization=0.50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61985-F148-4FE3-8096-5B2B6D72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949DD0-4952-4957-B854-6960C5BC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Disaggregation/config: hami-lambda.yaml · prefill=kv_producer · decode=kv_consumer · MooncakeConnector.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16EEC4-1506-4EF5-94AC-9D185F2B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1852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C42040-EBEA-4041-8E8B-8DBF776F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A5DB217D-F2BC-4925-939F-B59421CE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A2C4A67E-0C78-46D5-8AF8-FE4267A7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ROUTER DECISION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D5BC3-6893-4424-BA73-B32A88F4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router makes decisions from a worker snapshot, not from every dashboard metric.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923A7-05CA-43CA-94EA-CA7924AA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The live decision loop is: scrape → snapshot() → filter → admit/place.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DA0D0-D86F-4113-A299-D3CDFED7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99327-E11C-48B3-907B-8720FC20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SNAPSHOT()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20419-043A-41C2-A84D-E71A5C69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vLLM metrics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waiting requests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running requests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KV cache usage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prefix-cache state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waiting by reason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4918A-8E10-4F33-B806-254C3279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0B781-03C2-4623-BECE-83F0A3F3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670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ADMISSION +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E3E4F-C686-43EA-9C57-1E2128AA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28950"/>
            <a:ext cx="2714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Uses snapshot +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B0BB3-3EE9-4798-9237-36CAE49E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33750"/>
            <a:ext cx="2714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429 tenant_tokens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36F53-B5E9-43F0-9ADE-65CDF7B3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14725"/>
            <a:ext cx="2714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local policy rejection · no overflow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83071-19EC-4C74-9D7A-F6061202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19525"/>
            <a:ext cx="2714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503 timeout / KV / no pod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BA83F-7B54-44CB-AB53-6DEB5E6A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00500"/>
            <a:ext cx="2714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overflow eligible if 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AF3F3-A573-4D33-9033-3C32AF98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05300"/>
            <a:ext cx="2714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503 slice_oom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3BCA6-823F-439F-BDB9-55E72C40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486275"/>
            <a:ext cx="2714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hard local refusal · no overflow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96C04-C2DC-412C-AA79-4C24AAB0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791075"/>
            <a:ext cx="2714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529 upstream overload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B1AA3-89AD-494D-A53C-B27D67C8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72050"/>
            <a:ext cx="2714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overflow eligible if approved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C5CA5-C3FD-4CDB-B6A4-F4FD11DC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4891C-1B0E-4A26-9A40-E973A318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PLACEMENT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F3206-333A-4E44-A626-2C3BDCA1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Live default: p2c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Prefill: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prefix score + sticky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affinity, then p2c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Decode: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active-request + KV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score, then p2c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Explicit option: least_loaded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F11B1-8A63-4A3C-8EC7-7C5711A0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62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7AA95B-360F-4428-95B2-02782DBC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3377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C761B-5D29-479D-97DE-BC6224A4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62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E9BEDF-334F-4B88-BA24-89A16832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53377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85D355-7173-41F5-8162-422F5597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579F1-ABDA-4C4E-A92E-5FA8C6F5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Live code: router/pools.py snapshot() · router/router.py filtering/scoring · gateway/admission.py.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91563E-27C2-4F2A-811F-9EB4C94E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09717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46D07C-D082-4865-B9B4-50A01627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4365F4AA-BBA4-4AC5-9290-9BC98A59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1426D903-BD9B-4E1D-A668-2BEFCEC5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OPERATIONAL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FA610-2E6E-4FD2-B055-F6C16C87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Other metrics prove what happened; they do not yet steer the router.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1D97B-E08B-4745-8E88-C34EC6CD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These are essential for RCA, dashboards, and the next control-loop iteration.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9ED78-9E67-4172-9499-D0651FB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83533-DC4D-429D-82C9-F04D7A8A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ENGINE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9D49E-4096-401C-BB7D-4BEE0EF4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667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TTFT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inter-token latency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preemptions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restart count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Purpose: validate SLOs,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explain queue pressure,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and prove failure impact.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8ECFD-E1E9-4B74-8215-91CB89AF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5598C-2BD6-4DD3-BC31-8540F4C1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KV / GPU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98107-87CE-4EF1-A7FE-6DFF5119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Mooncake hops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transfer tokens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KV-event residency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DCGM util / memory / power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Purpose: prove handoff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0B1320"/>
                </a:solidFill>
                <a:latin typeface="Aptos Mono"/>
                <a:ea typeface="Aptos Mono"/>
                <a:cs typeface="Aptos Mono"/>
              </a:rPr>
              <a:t>behavior and HBM headroom.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5D44D-50E8-4B52-98BA-C4686E02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20010-AF7D-4C4A-B876-C3A4CCA3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B8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B860"/>
                </a:solidFill>
                <a:latin typeface="Avenir Next"/>
                <a:ea typeface="Avenir Next"/>
                <a:cs typeface="Avenir Next"/>
              </a:rPr>
              <a:t>FUTURE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E0743-E798-446C-AE45-EBA4621D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TTFT / ITL p99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preemption rate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DCGM 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Could drive: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p99 shedding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ramp-up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KEDA feedback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Not active thresholds today.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EF670-43BD-4801-9733-F472E332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F55BC-17E7-486C-9D4D-2337FECE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Live evidence: Prometheus/Grafana/DCGM snapshots · Mooncake proof · deployment logs.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013B5-4D77-4676-AD29-238FB996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26427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AA45AE-68C3-4853-BDA4-934F86C5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237FA0BF-F7E6-40DC-AC05-60D6E62D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529DF7CB-8863-47E6-BC46-29E5D08E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CODE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535BA-A4A1-40F7-89E7-616DACC2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gateway owns the boundary; vLLM owns the schedule.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568EE-7B33-49D4-99D1-F4ADACEC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The important distinction is where a decision is made—and what evidence it 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B5D4F-7D31-4078-A743-373B88DB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704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76047-B2E4-4BD4-8298-0B6C3313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9F62F-09A8-4AB5-AAC1-A9010E8B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1460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4B198-088E-457B-805B-F748C64A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432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D6E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8D6E8"/>
                </a:solidFill>
                <a:latin typeface="Aptos Mono"/>
                <a:ea typeface="Aptos Mono"/>
                <a:cs typeface="Aptos Mono"/>
              </a:rPr>
              <a:t>app/guardrails.py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3702D-1BC6-4895-A1EC-487AC334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43175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bad model · empty prompt</a:t>
            </a:r>
          </a:p>
          <a:p xmlns:a="http://schemas.openxmlformats.org/drawingml/2006/main">
            <a:pPr algn="l">
              <a:def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prompt too long → 400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6EE28-E9F3-4877-8A97-09C03B7C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61549-7DDB-408E-97FE-C3914273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704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E0707-E378-4948-AB14-88E6554C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99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E46D8-BC9D-4355-8054-CF9CF890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1470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ADMIT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EDAAE-F7E3-4E83-B4C4-0803460A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433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D6E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8D6E8"/>
                </a:solidFill>
                <a:latin typeface="Aptos Mono"/>
                <a:ea typeface="Aptos Mono"/>
                <a:cs typeface="Aptos Mono"/>
              </a:rPr>
              <a:t>gateway/admission.py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1EE35-ABBF-4086-B7B3-E9C021BE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43275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tenant cap · timeout_queue</a:t>
            </a:r>
          </a:p>
          <a:p xmlns:a="http://schemas.openxmlformats.org/drawingml/2006/main">
            <a:pPr algn="l">
              <a:def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kv_free · no eligible pod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45F83-F4F3-4F0F-A6A1-36AB994F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5DED2-3E40-4EB6-81E1-D30E1B0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704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13791-416B-4E72-A1D6-B9723BAB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FDB53-AE84-41F4-8286-ACE1E9B9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1480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1BB0A-7AB4-4CB4-9599-A5F84E5D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434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D6E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8D6E8"/>
                </a:solidFill>
                <a:latin typeface="Aptos Mono"/>
                <a:ea typeface="Aptos Mono"/>
                <a:cs typeface="Aptos Mono"/>
              </a:rPr>
              <a:t>router/router.py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AEB9E-32FA-49D6-9E67-D1E052C6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43375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remove stale / unhealthy workers</a:t>
            </a:r>
          </a:p>
          <a:p xmlns:a="http://schemas.openxmlformats.org/drawingml/2006/main">
            <a:pPr algn="l">
              <a:def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prefer warm prefix, then 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15910-ED92-4369-ACDB-C96BF350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E7CC6-144E-4966-B106-A27EA382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704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666D64-ED80-45F8-9D22-79F887AF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101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37079-2570-4117-8A2D-7CCDF97B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1490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839778-0784-437F-9D6D-D86E4BFC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435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D6E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8D6E8"/>
                </a:solidFill>
                <a:latin typeface="Aptos Mono"/>
                <a:ea typeface="Aptos Mono"/>
                <a:cs typeface="Aptos Mono"/>
              </a:rPr>
              <a:t>gateway/queue.py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83DFB-B552-4AB7-8DCE-46635958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43475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Mooncake transfer</a:t>
            </a:r>
          </a:p>
          <a:p xmlns:a="http://schemas.openxmlformats.org/drawingml/2006/main">
            <a:pPr algn="l">
              <a:def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handoff success/failure bookkeeping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3D3768-1B39-447C-AACC-86351299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9B0AB-DE20-4BC7-BF02-0CC7EEC1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26B5B"/>
                </a:solidFill>
                <a:latin typeface="Avenir Next"/>
                <a:ea typeface="Avenir Next"/>
                <a:cs typeface="Avenir Next"/>
              </a:rPr>
              <a:t>NOT GATEWAY LOGIC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1AC4A7-EC4B-4FD9-9C29-917D6BD5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FCFS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continuous batching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chunked prefill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preemption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block-table management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A25077-23EF-4BBB-80DB-0DEFE03F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AA996-526E-47B8-A597-EE28ACB8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01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2D5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92D5B8"/>
                </a:solidFill>
                <a:latin typeface="Avenir Next"/>
                <a:ea typeface="Avenir Next"/>
                <a:cs typeface="Avenir Next"/>
              </a:rPr>
              <a:t>These remain inside</a:t>
            </a:r>
          </a:p>
          <a:p xmlns:a="http://schemas.openxmlformats.org/drawingml/2006/main">
            <a:pPr algn="l">
              <a:defRPr sz="1200" b="1">
                <a:solidFill>
                  <a:srgbClr val="92D5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92D5B8"/>
                </a:solidFill>
                <a:latin typeface="Avenir Next"/>
                <a:ea typeface="Avenir Next"/>
                <a:cs typeface="Avenir Next"/>
              </a:rPr>
              <a:t>the vLLM engine.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EF45A8-AFCB-4D57-A3FD-1F64451E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44D94C-79DE-4E18-A0C2-1764836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Implementation anchors: app/guardrails.py · gateway/admission.py · router/router.py · gateway/queue.py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C2A7C2-23BA-4889-B980-9E86EEF5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77194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D33C7-5F7C-47CA-99F1-528463AC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2FAD85AE-BEE1-406A-9927-0A482DA5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BC59F677-C174-4371-8F67-1A481F6E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TEST 1 ·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98200-B08F-4F0F-BA7F-54EC528F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First we established a healthy local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420C0-04D5-4801-B1C3-E54D4A27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Low-load agent turns confirmed that the gateway, two vLLM engines, and metrics pipeline were connected before pressure was added.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9F5E3-8A8D-4954-B889-F408EB5C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572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F01CB-ABCC-47AB-A4C9-90F05D18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WHAT WE RAN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354B8-B951-403C-BB1D-7E173697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Baseline agent 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7C188-272C-4809-8D35-002A3579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• short multi-step turns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• normal prompt and output caps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• prefill → Mooncake handoff → decode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• Prometheus scrape during the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BD1E6-B12E-4556-B341-AEFC6DDA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7492A-5F2A-4E86-B9F2-803ADEBE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2D5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2D5B8"/>
                </a:solidFill>
                <a:latin typeface="Avenir Next"/>
                <a:ea typeface="Avenir Next"/>
                <a:cs typeface="Avenir Next"/>
              </a:rPr>
              <a:t>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51791-7CE8-4064-8B90-234AECFA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path was live: requests completed, prefix-cache activity appeared, and no preemptions or KV exhaustion were observed.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fdb25c663428c"/>
          <a:srcRect xmlns:a="http://schemas.openxmlformats.org/drawingml/2006/main" l="0" t="2178" r="0" b="2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305050"/>
            <a:ext cx="5619750" cy="3333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90E9E-26DD-4E8C-A2DD-7BA3AD94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Dashboard capture: prefix cache hits / queries, prompt and generation tokens, preemptions.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3C643-3C18-4600-9A44-229F4A9E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5E691-6397-4334-BBE5-40C4B284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Evidence: before-test Grafana capture + baseline request logs.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35AEC-E3A1-4058-B320-CF2A87A4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7838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6B5921-476A-490E-8ABB-0613A861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C38F2AC9-9D28-4F66-851B-903D118A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EAE009B8-D25E-4107-B1D7-F09128B1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TEST 2 · HIGH-PRESSURE BURST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9FF10-9DB9-4456-BE8E-46B267E2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burst failed at the KV handoff before HBM filled.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BC5C6-13E6-4C6F-9E8E-E537F2F1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This was the test of the original hypothesis: would decode capacity or KV memory be the first practical limiter?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D8CEB-968F-4CB7-A5AF-27CBE704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572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FD772-1429-473F-9ECB-F6AF7ECF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LOAD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0A98F-0DF0-4997-8379-A8D3BA0E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96 in-flight 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0F91B-41DC-431D-91CB-119C5DEE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1,500-token prompts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1,024 output requested → gateway clamped to 512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Mooncake prefill → decode transfer enabled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B867C-64ED-4B37-9019-8F58D243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2DBB5-EC1B-41F5-B08C-6E6D4449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B8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B860"/>
                </a:solidFill>
                <a:latin typeface="Avenir Next"/>
                <a:ea typeface="Avenir Next"/>
                <a:cs typeface="Avenir Next"/>
              </a:rPr>
              <a:t>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F4FA8-9EC5-47A3-A577-557F5977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12 completed · 18 kv_transfer_failed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66 no_eligible_pod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C3F95-93E4-41F0-8A25-62013E00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GPU memory was only ~8.3 GiB in the fail-policy run; this was not slice OOM.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c27b056e94575"/>
          <a:srcRect xmlns:a="http://schemas.openxmlformats.org/drawingml/2006/main" l="0" t="2204" r="0" b="2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305050"/>
            <a:ext cx="5619750" cy="3333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3F518-968D-45F9-9953-8892833A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Dashboard capture: ITL p95, end-to-end p95, prefix activity, and preemptions.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7EB49-DBF6-4883-BA43-6264EE3D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B9E74-30A2-42B2-8340-8EB2D6A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Evidence: extended burst logs + Grafana burst capture + gateway outcome counters.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7A59D-DC8A-4291-8F79-E9C11ABA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06131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5350F-5655-4552-BD73-01AD7D91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9EAD5790-861E-4EFD-8E7E-A5545B3C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CB6D15A7-2159-457E-B399-494E7D5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HANDOFF RCA ·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9D34B-6150-441B-B1DC-DC74D614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Issue 1: the gateway request was not enough for a real KV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5C813-182B-4CB0-ADE0-B8DCEFC5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The OpenAI-compatible request had to carry the connector’s per-request producer/consumer metadata.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1E8EC-5A9F-4E8E-AC90-47D7F38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C02AB-9EFB-441C-A1F9-AE296F8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26B5B"/>
                </a:solidFill>
                <a:latin typeface="Avenir Next"/>
                <a:ea typeface="Avenir Next"/>
                <a:cs typeface="Avenir Next"/>
              </a:rPr>
              <a:t>ROOT CAUSE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C75B5-C64A-40F8-AD8A-6D9B389F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Generic request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85889-C117-47A6-B1A1-790D157D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gateway knew the phase, but Mooncake needed explicit transfer identity, engine identity, and producer/consumer direction.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EB3DF-1678-45AC-BD1E-042613A5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86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B860"/>
                </a:solidFill>
                <a:latin typeface="Avenir Next"/>
                <a:ea typeface="Avenir Next"/>
                <a:cs typeface="Avenir Next"/>
              </a:rPr>
              <a:t>Result: decode could receive a request without an accepted remote-KV contract.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6A273-0EBD-4BC4-BC60-9ECCC26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23AB9-A5FE-42C4-9C8B-66CBEA49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8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3E799-1968-4761-BB4D-15973586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67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Final request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930AC-155A-438A-ADBA-6ED9CA8B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2425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Builds `kv_transfer_params` for both engines, shares a transfer id, discovers the producer engine id, and sends prefill with `max_tokens=1`.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3F948-F5F2-49FA-B943-81251956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7625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The connector remains inside vLLM/Mooncake; the gateway supplies the handoff metadata.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38E03-6908-4027-B5BE-5B8EF874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28875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AE6D55-FA94-49D5-88E9-BC34CCBB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WHAT IT PROVED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0ABE1-4084-48DA-A89D-134F786D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A real handoff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EF966-798C-4E2C-90A2-3838866C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The request reached the actual MooncakeConnector path and produced transfer metrics. It did not eliminate connector-side transfer failures under pressure.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7312D-1B83-42B2-85FA-C0C20E0E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Evidence: `gateway/queue.py` + `router/kv/mooncake_connector.py`.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CB3E2-4A35-4FE5-ADCB-3660B216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C65E9-3F36-4787-8F8C-ED81ABCC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RCA boundary: adapter-owned metadata vs engine-owned KV movement.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5A2DD-545E-4182-ABB4-50549E85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47122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24448-EEE9-4383-A404-64343261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4EBC6FDF-8173-4ABA-BD66-9C1F76BF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47DA7AF0-941D-48DE-BF5D-40299C7B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HANDOFF RCA ·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09475-CBE1-43A7-8491-75AD9394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Issue 2: asynchronous handoffs could outlive the request lifecycle.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E9199-8FE7-4B83-B1CC-7B8CA7A4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A late Mooncake callback can arrive after vLLM has removed the request; overlapping transfers made that race more likely on one decode slice.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D9856-7B78-4B4A-8BCC-DD3FB3C0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27121-12DE-49C1-93BC-10A0E0BE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26B5B"/>
                </a:solidFill>
                <a:latin typeface="Avenir Next"/>
                <a:ea typeface="Avenir Next"/>
                <a:cs typeface="Avenir Next"/>
              </a:rPr>
              <a:t>ROOT CAUSE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767DC-1235-4E0B-B222-8655FF36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Producer / consumer 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00590-FE44-4387-BA87-6FFC4C31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Prefill, decode, callback, cleanup, and retry were not one atomic transaction. A failed or late callback could surface as `kv_transfer_failed` or restart risk.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05269-E170-4FAD-9AAB-E6D26285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95B2A-7B2B-4D38-9892-1BB2144D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8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097C8-FD92-486D-8756-D2778AA9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67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Serialize the real 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6E602-6E5D-4682-BE8F-4C438F52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2425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A lock keeps producer and consumer submissions together. The consumer acceptance is used as the local handoff barrier before the gateway commits the request.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78874-2A2D-4696-A280-0ED6238B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7625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This reduces overlap; it does not rewrite vLLM’s internal scheduler.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00454-DF1B-4EA5-945D-DD12297D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28875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A8CBC-FA59-418A-9603-628E4864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0F280-848A-48A0-8756-BD842651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Mitigation, not atomicity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CEDB7-7C9A-4537-864D-C1CE6FFA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The full fix would require an engine/connector lifecycle state such as WAITING_FOR_REMOTE_KV with idempotent completion and safe late-event handling.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5A30D-B17B-49ED-A1D1-304E8C12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That boundary remains inside vLLM/Mooncake.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1B021-B47E-4DB3-AC0E-7F6BDD9F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37201-79D7-4EA1-B05D-5FC9B4B1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Evidence: `gateway/queue.py` handoff lock + burst failure/restart behavior.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D9898-57F2-46B6-92A2-3F5DC4A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63344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F9432-6BD5-4606-8710-79D4A21D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4E4B5975-9F50-4C20-8650-3CE22FED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2723E58C-EA9F-4016-BA48-8CD50B3D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HANDOFF RCA ·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C3333-2B82-497E-9C8B-FD6185C8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Issue 3: a remote-KV failure needed a safe local fallback.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141EB-16B0-41AD-AFD4-A8EF3085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The first pressure run showed transfer failures before HBM exhaustion; the system needed to contain that failure instead of destabilizing decode.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B5DE8-B19F-406E-8D37-D1E114A2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CA734-24B3-4A7C-9CC1-098EE47C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6B5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26B5B"/>
                </a:solidFill>
                <a:latin typeface="Avenir Next"/>
                <a:ea typeface="Avenir Next"/>
                <a:cs typeface="Avenir Next"/>
              </a:rPr>
              <a:t>ROOT CAUSE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DFD58-CAC4-4DB0-BFE2-B4B44EC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Remote load 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64674-82B3-454C-8683-95592D0A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47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consumer could not load remote KV for every request. In the fail-policy run: 18 `kv_transfer_failed`, 66 `no_eligible_pod`, and decode restart risk—while GPU memory was only ~8.3 GiB.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95932-12FD-403D-B04A-2EC54DA5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92D5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2E78A-364E-49AA-A8F3-E83AF586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8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DD1C4-A18A-4571-896B-353926A7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67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Recompute + contain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21753-A41A-4C8E-A42E-71203F37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2425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Decode uses `kv_load_failure_policy=recompute`; the gateway records transfer failure, reports it to the worker, and can circuit-break the failed handoff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FDC95-6C62-48AB-835F-3B8287EA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7625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This trades extra compute for a safer failure mode.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CA5A6-C2C4-467D-B6D2-411E8AD0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28875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1DD9A-6137-4E8D-A170-A411BD14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MEASURED EFFECT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CD2EC-819E-456F-A54C-8277F106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Blast radius reduced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D2499-3DC9-4335-80EB-803140D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The recompute run completed local work and avoided a new decode restart during the run, but transfer failures still occurred. It is resilience—not a repaired remote-KV protocol.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A6C4E-CE46-48C7-BDC1-0131DE09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Evidence: hami-lambda.yaml + recompute run.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0E1BC-B25B-4E41-96CE-980A564C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E9C4D-0105-42A2-8A98-028A757D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Conclusion: gateway mitigations contain failure; engine-level synchronization remains future work.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36329-4E2F-47B8-AD74-0A38BF44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946119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AD4E0-DA09-4212-AFFE-DDD47C7E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40297671-433A-4E05-9491-F10504F0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A2E286DB-82DC-4B0D-8433-E22F64E9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TEST 3 · EXTENDED SOAK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EB2BA-87BF-434B-89C2-AE9087A4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longer run stayed below the KV ceiling.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92D1E-502E-4EC7-86F4-7C1BFD16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After the handoff mitigations, repeated waves exercised the router and transfer path without consuming the engine’s full KV budget.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93E6A-4CA1-4E90-ABDF-86AFD341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572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960B3-DB69-416F-8D40-11318BF8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LOAD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26648-DB71-44D8-8BC5-C56225A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10-minute repeated waves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9A857-0FF1-4FEA-AF60-97516DD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16-request waves with the tenant cap raised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router picks and sheds observed continuously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KV transfer + eviction metrics scraped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4D96D-DBEC-40FB-9E16-BF9C0F3B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9D8B2-FF6F-4D36-85CF-C8AADC1C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2D5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2D5B8"/>
                </a:solidFill>
                <a:latin typeface="Avenir Next"/>
                <a:ea typeface="Avenir Next"/>
                <a:cs typeface="Avenir Next"/>
              </a:rPr>
              <a:t>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FA84A-778C-4756-AACA-AF93BEBC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KV free stayed healthy; no KV evictions or HBM exhaustion appeared. The soak validated stability, not saturation.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BB13E-3F5A-49EB-B049-7BB6B74F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86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B860"/>
                </a:solidFill>
                <a:latin typeface="Avenir Next"/>
                <a:ea typeface="Avenir Next"/>
                <a:cs typeface="Avenir Next"/>
              </a:rPr>
              <a:t>The measured bottleneck remained handoff coordination, not raw KV capacity.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9e4bc63624bc7"/>
          <a:srcRect xmlns:a="http://schemas.openxmlformats.org/drawingml/2006/main" l="0" t="2590" r="0" b="2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305050"/>
            <a:ext cx="5619750" cy="3333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7A71E-5018-45E5-A970-00166875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Dashboard capture: KV free, tokens in flight, picks vs sheds, p95 by stage, transfer + evict.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5D5AB-F005-41E7-B1DB-DC9410DC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44586-D932-441C-A176-34DFE9AD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Evidence: extended soak metrics + Grafana overview capture.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15D26-DAFB-4A8E-B509-9437A1A2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231130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D5799-3527-4C7A-8A70-0463CF1A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968B2AFC-5198-40F5-A6D8-0262893E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B1335417-B20F-43F0-BB6F-BD552849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0606C-8DF6-40AE-8D83-EE996555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live run changed the hypothesis.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4A12D-DA69-4C72-9F00-71022724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We expected raw decode/KV capacity to fail first; the measured boundary was the prefill-to-decode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E74C3-14BD-4044-BF5D-19A51A51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BD6EE-3574-41C8-8EB5-1FE95E62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WHAT WE 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23487-498F-461D-B84A-B2C65EB8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A working control plane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E23FC-952D-4CBC-BEDF-E1FDCD0F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3810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• real Lambda A100 hardware</a:t>
            </a:r>
          </a:p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• separate vLLM prefill and decode engines</a:t>
            </a:r>
          </a:p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• real MooncakeConnector path</a:t>
            </a:r>
          </a:p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• gateway decisions explained by Prometheus/Grafana</a:t>
            </a:r>
          </a:p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• transfer failures observed before HBM exhaustion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12391-E040-4D96-B4B6-D078F54F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28875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5B848-44DB-435E-BE2A-9FCF935A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WHAT REMAINS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0BD9B-E526-431A-B221-DB4F53E3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956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Engine-level synchronization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A5552-58BB-470B-9993-B02A5E62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The gateway mitigations—metadata adaptation, serialized handoff, and recompute—reduced risk and made failures visible. They did not make remote KV completion atomic inside vLLM.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A53F9-A46A-4FB5-8B67-C7C76A84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Next step: an engine/connector lifecycle barrier for remote KV acknowledgement and safe late events.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3494E-DF17-41D7-9789-0C5B6825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67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14B8D-B3F9-4792-A658-4BFB7B55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Final takeaway: capacity math identified the boundary; live metrics showed which subsystem actually failed.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A6871-C689-444A-9EE7-71707E00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9D96E-9994-49C7-8180-433381C2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Measured deployment evidence: finalproj/evidence/final-run/ and dashboard-screenshots/.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12CA4-5BFA-48EA-AF8E-9FCE5414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0538638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8F2BC8-313A-4A0E-9576-23AD23B5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A99AB113-D70C-47BB-8643-AA81E516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E9604065-3BB2-4770-9C0F-C4F4BC0F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OPERATING CONTRACT ·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8C82E-16F4-4A2F-ADEF-7F58F238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request and KV boundaries are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90F78-FDC8-4560-88A2-FB821033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These are the lines between application context, gateway policy, and engine-owned KV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F1620-23D0-4ACD-9153-574AE0C3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DA3AC-1384-4EAB-9537-C9BCE52A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REQUEST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A30AC-F0F0-4892-BC93-8193B17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Shared vs unique 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374C2-1617-44E9-9299-3B1301B9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Shared: system / tool-schema prefix</a:t>
            </a:r>
          </a:p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Unique: user turn, thoughts, and tool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6EA44-6E37-4069-987F-E1101B72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72FE4-8923-4277-845E-D87BC814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Timeout protection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FF561-433E-46B5-8916-A6F6FE08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queue wait &gt; timeout / 2 → shed as timeout_queue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AC920-538E-4F27-9F3C-93E4E07D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Tenant isolation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1F972-1FBA-4742-A8B4-428B7B37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per-tenant token window → 429, no overflow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62ECB-E191-4843-A90E-5DA57CCC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953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63EB6-9174-4E1E-BE1B-43DE005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KV LIFECYCLE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44253-69F4-4449-B91F-A2E85E16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What crosses the hop?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003A0-844B-470A-A579-EC5B1B2A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Gateway copies metadata only:</a:t>
            </a:r>
          </a:p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transfer id, engine id, direction.</a:t>
            </a:r>
          </a:p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Mooncake moves the KV blocks.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97BA9-C9EA-4E7A-B370-572AE287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862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FF531-B6FB-49B5-91A1-D2806BF8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Eviction / ghost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36D85-D607-42AE-8553-A60C820B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196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evict() removes router residency metadata;</a:t>
            </a:r>
          </a:p>
          <a:p xmlns:a="http://schemas.openxmlformats.org/drawingml/2006/main">
            <a:pPr algn="l">
              <a:def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skip it and the router may stick to KV that is gone.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70C54-3EFC-45F6-82E4-65250726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DBE6E-B404-4D67-A8CC-4C94F1F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Pointers: app/crew_flood.py · router/router.py · gateway/admission.py · gateway/queue.py · router/kv/kvbus.py.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1DC60-DC41-442A-920A-F47A399E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0019270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2FCE6-C5FE-4E0D-8556-6958000C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60C2AC49-7CE9-4DF9-BA55-7FD3DFF2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6ED0A543-BA26-46A5-A1D0-02383A8C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OPERATING CONTRACT ·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98124-6D0C-4AD7-A690-678374E1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At 10× traffic, scale the consumed resource—not every limit.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1200A-B83B-4892-A719-1C6CE608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The current run gives us a defensible alert set and a conservative next move.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D5D4C-F756-47BD-8A95-FDDF574E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72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A8AE0-84CB-4C5D-AAD0-8F773E9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FOUR PRODUCTION ALERTS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E16B8-A312-4739-A0D0-0A8062A5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619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  KV transfer failures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 decode restarts / preemptions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  KV usage + waiting capacity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  DCGM memory / power / utilization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16602-8B63-45AB-80C2-6592280F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61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CF888-0A19-4850-9CC1-5F5263FA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2619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Evidence: gateway counters, vLLM metrics,</a:t>
            </a:r>
          </a:p>
          <a:p xmlns:a="http://schemas.openxmlformats.org/drawingml/2006/main">
            <a:pPr algn="l">
              <a:defRPr sz="10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DCGM scrape, and Grafana dashboards.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C351C-176E-4856-ACF4-E5FB9DF0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58D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6B341-DA3E-4FF4-B000-6EFC057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4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SCALE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C1E46-A542-4887-B594-6CD44BDF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480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Decode pool 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E0921-3D86-4467-A2DF-C5A15703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861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The agent repeatedly generates and holds context, so decode slots are the first scale target. Add prefill capacity when uncached prompt tokens become the dominant load.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310D4-5F5C-4D53-B2F1-BA2DDB3C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6672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p99_spread is instrumented but not an active shed threshold in this run.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097E5-0F9C-4F66-93C8-C36AC6A2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6619E-0B5E-4CE8-99BC-266A1BBF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B6776"/>
                </a:solidFill>
                <a:latin typeface="Avenir Next"/>
                <a:ea typeface="Avenir Next"/>
                <a:cs typeface="Avenir Next"/>
              </a:rPr>
              <a:t>WRONG NEXT MOVES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2C615-F31D-4056-BE2C-541FAADE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Do not blindly: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A8FAD-666C-49F4-85F1-25F61B90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• raise max_num_seqs</a:t>
            </a:r>
          </a:p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• raise max_model_len</a:t>
            </a:r>
          </a:p>
          <a:p xmlns:a="http://schemas.openxmlformats.org/drawingml/2006/main">
            <a:pPr algn="l">
              <a:def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• add replicas without KV lifecycle / affinity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D4C71-15F4-4112-926B-6EA308F4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62172C-34A5-47DE-8822-68AC7CE3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053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First add the missing engine-level</a:t>
            </a:r>
          </a:p>
          <a:p xmlns:a="http://schemas.openxmlformats.org/drawingml/2006/main">
            <a:pPr algn="l">
              <a:def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320"/>
                </a:solidFill>
                <a:latin typeface="Avenir Next"/>
                <a:ea typeface="Avenir Next"/>
                <a:cs typeface="Avenir Next"/>
              </a:rPr>
              <a:t>remote-KV acknowledgement barrier.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46195-7C43-47A6-98C4-D325A258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E4D4F-24D4-4C4A-A678-0F6DD2DB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BA8B8"/>
                </a:solidFill>
                <a:latin typeface="Avenir Next"/>
                <a:ea typeface="Avenir Next"/>
                <a:cs typeface="Avenir Next"/>
              </a:rPr>
              <a:t>Pointers: gateway/metrics.py · router/router.py · observability/dashboards.py · final-run metrics and Grafana captures.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8C93C-1E17-4086-9E62-9AA301A6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8D6E8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36326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2026-10-10T08:13:49.4700000Z</dcterms:created>
  <dcterms:modified xsi:type="dcterms:W3CDTF">2026-10-10T08:13:49.4700000Z</dcterms:modified>
</coreProperties>
</file>